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9" r:id="rId5"/>
    <p:sldId id="279" r:id="rId6"/>
    <p:sldId id="280" r:id="rId7"/>
    <p:sldId id="281" r:id="rId8"/>
    <p:sldId id="259" r:id="rId9"/>
    <p:sldId id="270" r:id="rId10"/>
    <p:sldId id="278" r:id="rId11"/>
    <p:sldId id="27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3F62F-95C0-4F3C-A351-9233E58DC65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2E0BCE-EA90-4B02-A05B-973DA7550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2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2E0BCE-EA90-4B02-A05B-973DA75504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57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A1B7-B041-6A88-F40B-40F1D3E7A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D219B-861B-B643-C04C-884891F5A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C05FB-FD58-A45D-2D90-912B7DB38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2EF1D-D2C8-1BBB-4283-4CFC12F1A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2E0BCE-EA90-4B02-A05B-973DA75504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4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99774-B3AD-A2BC-60D9-D4E8B416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7B957-0D74-C97A-6D30-839D2C625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B8B9C-F3B8-9C8F-0752-143753DC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509E-1577-0AA3-6F50-03ABB5181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2E0BCE-EA90-4B02-A05B-973DA75504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99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2E0BCE-EA90-4B02-A05B-973DA75504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35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2AAB-BAA9-ADEF-D9B6-0EFC3A37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D6802-0580-6506-9843-067EE1F84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64F18-B2DC-2B11-5544-23BCE4DC6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E4260-A545-0CB7-7C0C-71770A48E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2E0BCE-EA90-4B02-A05B-973DA75504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02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24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8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15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2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47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66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6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1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3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0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CE149DA-7BB1-4933-B759-25462C440E6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6A86532-C23F-4FE9-B563-AA36F48D3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6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D7856A76-1CBE-0971-B8C7-B14F28FDB31A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-3383"/>
            <a:ext cx="1681316" cy="155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71E462D1-1932-7366-663F-0F626703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995" y="4084920"/>
            <a:ext cx="10348010" cy="1141497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19349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3A3AD-FE86-381A-78E9-54CD1CEF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2A60C0F0-D3FD-4020-55DC-2D8ECD8F2462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-3383"/>
            <a:ext cx="1681316" cy="155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4;p2">
            <a:extLst>
              <a:ext uri="{FF2B5EF4-FFF2-40B4-BE49-F238E27FC236}">
                <a16:creationId xmlns:a16="http://schemas.microsoft.com/office/drawing/2014/main" id="{C20FC0B7-2E40-11F0-2BD0-D3FFF554D435}"/>
              </a:ext>
            </a:extLst>
          </p:cNvPr>
          <p:cNvSpPr txBox="1">
            <a:spLocks/>
          </p:cNvSpPr>
          <p:nvPr/>
        </p:nvSpPr>
        <p:spPr>
          <a:xfrm>
            <a:off x="532493" y="1182355"/>
            <a:ext cx="2070030" cy="4778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b="1" dirty="0">
                <a:solidFill>
                  <a:srgbClr val="323F4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C3EF1-5981-0691-3F62-1B4AE8E2C3FF}"/>
              </a:ext>
            </a:extLst>
          </p:cNvPr>
          <p:cNvSpPr txBox="1"/>
          <p:nvPr/>
        </p:nvSpPr>
        <p:spPr>
          <a:xfrm>
            <a:off x="1214284" y="2151727"/>
            <a:ext cx="97634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What is Machine Learning?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Why Machine Learning Matters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Types of Machine Learning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Supervised vs Unsupervised vs Reinforcement Learning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Machine Learning vs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59469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70322-B690-CA2D-AC56-DF03349DE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machine learning&#10;&#10;AI-generated content may be incorrect.">
            <a:extLst>
              <a:ext uri="{FF2B5EF4-FFF2-40B4-BE49-F238E27FC236}">
                <a16:creationId xmlns:a16="http://schemas.microsoft.com/office/drawing/2014/main" id="{C2F1D643-E91F-C7F9-BBE1-51731C5A0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21" r="1" b="2867"/>
          <a:stretch/>
        </p:blipFill>
        <p:spPr>
          <a:xfrm>
            <a:off x="4650909" y="10"/>
            <a:ext cx="754109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9FA2F-54AC-B26E-F286-A7E315F7992A}"/>
              </a:ext>
            </a:extLst>
          </p:cNvPr>
          <p:cNvSpPr txBox="1"/>
          <p:nvPr/>
        </p:nvSpPr>
        <p:spPr>
          <a:xfrm>
            <a:off x="186268" y="690663"/>
            <a:ext cx="4093902" cy="52657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891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Machine Learning</a:t>
            </a:r>
          </a:p>
          <a:p>
            <a:pPr marL="4572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Definition</a:t>
            </a:r>
            <a:r>
              <a:rPr lang="en-US" sz="2800" dirty="0">
                <a:solidFill>
                  <a:schemeClr val="bg1"/>
                </a:solidFill>
              </a:rPr>
              <a:t>: Machine Learning is a subset of artificial intelligence (AI) that allows systems to learn from data and improve over time without being explicitly programmed.</a:t>
            </a:r>
          </a:p>
          <a:p>
            <a:pPr marL="4572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Goal</a:t>
            </a:r>
            <a:r>
              <a:rPr lang="en-US" sz="2800" dirty="0">
                <a:solidFill>
                  <a:schemeClr val="bg1"/>
                </a:solidFill>
              </a:rPr>
              <a:t>: To develop algorithms that can identify patterns in data and make predictions or decisions based on that data.             </a:t>
            </a:r>
          </a:p>
        </p:txBody>
      </p:sp>
    </p:spTree>
    <p:extLst>
      <p:ext uri="{BB962C8B-B14F-4D97-AF65-F5344CB8AC3E}">
        <p14:creationId xmlns:p14="http://schemas.microsoft.com/office/powerpoint/2010/main" val="4895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77BE-4B73-24F1-A0A2-9F093A5F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F0917FE1-65D1-4F87-3B15-F0EA7FAFBF4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-3383"/>
            <a:ext cx="1681316" cy="155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8DB77DF2-752E-1835-0CE1-114DC290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316" y="3858768"/>
            <a:ext cx="9290304" cy="136410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6000" dirty="0"/>
              <a:t>Why ML Matters?</a:t>
            </a:r>
          </a:p>
        </p:txBody>
      </p:sp>
    </p:spTree>
    <p:extLst>
      <p:ext uri="{BB962C8B-B14F-4D97-AF65-F5344CB8AC3E}">
        <p14:creationId xmlns:p14="http://schemas.microsoft.com/office/powerpoint/2010/main" val="322615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head with gears in it&#10;&#10;AI-generated content may be incorrect.">
            <a:extLst>
              <a:ext uri="{FF2B5EF4-FFF2-40B4-BE49-F238E27FC236}">
                <a16:creationId xmlns:a16="http://schemas.microsoft.com/office/drawing/2014/main" id="{15A3D382-F54E-D99C-D608-6C4F99D63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4" r="14715"/>
          <a:stretch/>
        </p:blipFill>
        <p:spPr>
          <a:xfrm>
            <a:off x="4650909" y="10"/>
            <a:ext cx="7541090" cy="685798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9FA2F-54AC-B26E-F286-A7E315F7992A}"/>
              </a:ext>
            </a:extLst>
          </p:cNvPr>
          <p:cNvSpPr txBox="1"/>
          <p:nvPr/>
        </p:nvSpPr>
        <p:spPr>
          <a:xfrm>
            <a:off x="297132" y="479988"/>
            <a:ext cx="4060032" cy="5898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Why Machine Learning Matters?</a:t>
            </a:r>
          </a:p>
          <a:p>
            <a:pPr marL="4572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Automation</a:t>
            </a:r>
            <a:r>
              <a:rPr lang="en-US" sz="2400" dirty="0">
                <a:solidFill>
                  <a:schemeClr val="bg1"/>
                </a:solidFill>
              </a:rPr>
              <a:t>: ML enables automation of tasks that require human intervention.</a:t>
            </a:r>
          </a:p>
          <a:p>
            <a:pPr marL="4572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Improved Accuracy</a:t>
            </a:r>
            <a:r>
              <a:rPr lang="en-US" sz="2400" dirty="0">
                <a:solidFill>
                  <a:schemeClr val="bg1"/>
                </a:solidFill>
              </a:rPr>
              <a:t>: ML models can often outperform human decision-making in certain domains.</a:t>
            </a:r>
          </a:p>
          <a:p>
            <a:pPr marL="4572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Wide Applications</a:t>
            </a:r>
            <a:r>
              <a:rPr lang="en-US" sz="2400" dirty="0">
                <a:solidFill>
                  <a:schemeClr val="bg1"/>
                </a:solidFill>
              </a:rPr>
              <a:t>: ML is used in various industries such as healthcare, finance, entertainment, e-commerce, and more.</a:t>
            </a:r>
          </a:p>
        </p:txBody>
      </p:sp>
    </p:spTree>
    <p:extLst>
      <p:ext uri="{BB962C8B-B14F-4D97-AF65-F5344CB8AC3E}">
        <p14:creationId xmlns:p14="http://schemas.microsoft.com/office/powerpoint/2010/main" val="2743244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EDED-E36A-F814-C272-25221019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771F58C3-D994-BB05-359D-8B8F52CEC2F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-3383"/>
            <a:ext cx="1681316" cy="155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DB460650-C8A5-2C8A-66AB-6D9FB679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316" y="4370832"/>
            <a:ext cx="9366898" cy="1364104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6000" dirty="0"/>
              <a:t>Types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802367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39B4-3ED8-F7DF-25FE-98F9F232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A70344A1-E786-3088-8FFC-44CD12CD93FE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1475" y="-296761"/>
            <a:ext cx="1681316" cy="155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diagram of types of learning&#10;&#10;AI-generated content may be incorrect.">
            <a:extLst>
              <a:ext uri="{FF2B5EF4-FFF2-40B4-BE49-F238E27FC236}">
                <a16:creationId xmlns:a16="http://schemas.microsoft.com/office/drawing/2014/main" id="{4D11D4FC-5EC6-37CA-C25E-485DEEEEF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87" y="603315"/>
            <a:ext cx="10589626" cy="586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3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0B04-3D8F-5255-5C91-018FBDC0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688E1CC9-0883-4968-7144-2A8DC6A9908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1475" y="-296761"/>
            <a:ext cx="1681316" cy="155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7D8231-3632-0158-3FC8-C2306F5599C7}"/>
              </a:ext>
            </a:extLst>
          </p:cNvPr>
          <p:cNvSpPr txBox="1"/>
          <p:nvPr/>
        </p:nvSpPr>
        <p:spPr>
          <a:xfrm>
            <a:off x="6202682" y="868537"/>
            <a:ext cx="5521375" cy="5691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/>
              <a:t>3. Semi-supervised Learning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Description</a:t>
            </a:r>
            <a:r>
              <a:rPr lang="en-US" sz="2000" dirty="0"/>
              <a:t>: A combination of supervised and unsupervised learning. The model uses a small amount of labeled data and a large amount of unlabeled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 Labeling a dataset with a few manual annotations and using unlabeled data to improve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Algorithms</a:t>
            </a:r>
            <a:r>
              <a:rPr lang="en-US" sz="2000" dirty="0"/>
              <a:t>: Self-training, co-training.</a:t>
            </a:r>
          </a:p>
          <a:p>
            <a:pPr>
              <a:buNone/>
            </a:pPr>
            <a:r>
              <a:rPr lang="en-US" sz="2000" b="1" dirty="0"/>
              <a:t>4. Reinforcement Learning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Description</a:t>
            </a:r>
            <a:r>
              <a:rPr lang="en-US" sz="2000" dirty="0"/>
              <a:t>: The model learns by interacting with an environment and receiving feedback through rewards or penalties.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 Training an agent to play a game like Chess or Go.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Algorithms</a:t>
            </a:r>
            <a:r>
              <a:rPr lang="en-US" sz="2000" dirty="0"/>
              <a:t>: Q-learning, Deep Q-Networks (DQN), Policy Gradient methods.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9FA2F-54AC-B26E-F286-A7E315F7992A}"/>
              </a:ext>
            </a:extLst>
          </p:cNvPr>
          <p:cNvSpPr txBox="1"/>
          <p:nvPr/>
        </p:nvSpPr>
        <p:spPr>
          <a:xfrm>
            <a:off x="196547" y="959977"/>
            <a:ext cx="5792773" cy="5376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000" b="1" dirty="0"/>
              <a:t>1. Supervised Learning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Description</a:t>
            </a:r>
            <a:r>
              <a:rPr lang="en-US" sz="2000" dirty="0"/>
              <a:t>: The model is trained on labeled data. It learns the relationship between the input features and the output labels.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 Predicting house prices based on features like size, location, and condition.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Algorithms</a:t>
            </a:r>
            <a:r>
              <a:rPr lang="en-US" sz="2000" dirty="0"/>
              <a:t>: Linear Regression, Decision Trees, SVM, etc.</a:t>
            </a:r>
          </a:p>
          <a:p>
            <a:pPr>
              <a:buNone/>
            </a:pPr>
            <a:r>
              <a:rPr lang="en-US" sz="2000" b="1" dirty="0"/>
              <a:t>2. Unsupervised Learning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Description</a:t>
            </a:r>
            <a:r>
              <a:rPr lang="en-US" sz="2000" dirty="0"/>
              <a:t>: The model is trained on unlabeled data and tries to find patterns or structures within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 Customer segmentation based on purchase behavior.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Algorithms</a:t>
            </a:r>
            <a:r>
              <a:rPr lang="en-US" sz="2000" dirty="0"/>
              <a:t>: K-Means Clustering, Hierarchical Clustering, PCA, etc.</a:t>
            </a:r>
          </a:p>
        </p:txBody>
      </p:sp>
    </p:spTree>
    <p:extLst>
      <p:ext uri="{BB962C8B-B14F-4D97-AF65-F5344CB8AC3E}">
        <p14:creationId xmlns:p14="http://schemas.microsoft.com/office/powerpoint/2010/main" val="3222244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E91EB-11EB-F557-FD91-C9DE5783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0AB01E84-8B7B-9B95-93FB-001E3D56806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-3383"/>
            <a:ext cx="1681316" cy="155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516A9052-9B8F-A8E5-65F8-94F65A0E7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950" y="4198907"/>
            <a:ext cx="4516100" cy="136410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4800" dirty="0"/>
              <a:t>ML </a:t>
            </a:r>
            <a:r>
              <a:rPr lang="en-US" sz="4800" b="1" dirty="0"/>
              <a:t>vs</a:t>
            </a:r>
            <a:r>
              <a:rPr lang="en-US" sz="4800" dirty="0"/>
              <a:t> DL</a:t>
            </a:r>
          </a:p>
        </p:txBody>
      </p:sp>
    </p:spTree>
    <p:extLst>
      <p:ext uri="{BB962C8B-B14F-4D97-AF65-F5344CB8AC3E}">
        <p14:creationId xmlns:p14="http://schemas.microsoft.com/office/powerpoint/2010/main" val="105070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28DE-183A-307B-233B-F680F4BB9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wo icons of a machine learning and machine learning">
            <a:extLst>
              <a:ext uri="{FF2B5EF4-FFF2-40B4-BE49-F238E27FC236}">
                <a16:creationId xmlns:a16="http://schemas.microsoft.com/office/drawing/2014/main" id="{A05472C0-B703-C231-D8FF-E84D3C502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5EE71F19-93DD-6160-C689-50807483751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0" y="-40571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55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91B18-FF7F-D27C-80F1-53C9C808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FB8C03F5-DEE7-4645-3430-00575ED2A44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-3383"/>
            <a:ext cx="1681316" cy="155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2A3B119A-2A26-8CE9-B9B6-15DA7A48B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394" y="4601981"/>
            <a:ext cx="4467070" cy="959370"/>
          </a:xfrm>
        </p:spPr>
        <p:txBody>
          <a:bodyPr>
            <a:normAutofit fontScale="90000"/>
          </a:bodyPr>
          <a:lstStyle/>
          <a:p>
            <a:pPr marL="285744" indent="-285744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 Questions 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1092003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OOP Session</Template>
  <TotalTime>81</TotalTime>
  <Words>357</Words>
  <Application>Microsoft Office PowerPoint</Application>
  <PresentationFormat>Widescreen</PresentationFormat>
  <Paragraphs>40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Gill Sans MT</vt:lpstr>
      <vt:lpstr>Poppins</vt:lpstr>
      <vt:lpstr>Wingdings</vt:lpstr>
      <vt:lpstr>Parcel</vt:lpstr>
      <vt:lpstr>Machine Learning</vt:lpstr>
      <vt:lpstr>PowerPoint Presentation</vt:lpstr>
      <vt:lpstr>PowerPoint Presentation</vt:lpstr>
      <vt:lpstr>Why ML Matters?</vt:lpstr>
      <vt:lpstr>PowerPoint Presentation</vt:lpstr>
      <vt:lpstr>Types of Machine Learning</vt:lpstr>
      <vt:lpstr>PowerPoint Presentation</vt:lpstr>
      <vt:lpstr>PowerPoint Presentation</vt:lpstr>
      <vt:lpstr>ML vs DL</vt:lpstr>
      <vt:lpstr>PowerPoint Presentation</vt:lpstr>
      <vt:lpstr>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Elbadry</dc:creator>
  <cp:lastModifiedBy>Youssef Elbadry</cp:lastModifiedBy>
  <cp:revision>2</cp:revision>
  <dcterms:created xsi:type="dcterms:W3CDTF">2025-04-06T12:13:02Z</dcterms:created>
  <dcterms:modified xsi:type="dcterms:W3CDTF">2025-04-09T11:04:06Z</dcterms:modified>
</cp:coreProperties>
</file>