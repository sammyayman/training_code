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62" r:id="rId2"/>
    <p:sldId id="263" r:id="rId3"/>
    <p:sldId id="270" r:id="rId4"/>
    <p:sldId id="256" r:id="rId5"/>
    <p:sldId id="276" r:id="rId6"/>
    <p:sldId id="271" r:id="rId7"/>
    <p:sldId id="278" r:id="rId8"/>
    <p:sldId id="277" r:id="rId9"/>
    <p:sldId id="279" r:id="rId10"/>
    <p:sldId id="257" r:id="rId11"/>
    <p:sldId id="281" r:id="rId12"/>
    <p:sldId id="282" r:id="rId13"/>
    <p:sldId id="272" r:id="rId14"/>
    <p:sldId id="284" r:id="rId15"/>
    <p:sldId id="283" r:id="rId16"/>
    <p:sldId id="280" r:id="rId17"/>
    <p:sldId id="259" r:id="rId18"/>
    <p:sldId id="273" r:id="rId19"/>
    <p:sldId id="285" r:id="rId20"/>
    <p:sldId id="286" r:id="rId21"/>
    <p:sldId id="274" r:id="rId22"/>
    <p:sldId id="266" r:id="rId23"/>
    <p:sldId id="275" r:id="rId24"/>
    <p:sldId id="26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4EFAD8-A29D-497D-BA77-4D4DF712950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E477F-E61E-4214-81A0-32944194C9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4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581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0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54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25FB3-9EBE-6C46-6B37-285442F37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8C91A-C226-9B4C-215D-96D32334B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CC4E6-D88F-6B4D-6A40-75DCC07BE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531D9-7830-37AA-82A3-AB45E1753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76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688C7-0C91-ACD9-6D08-D73E92E8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D2FCA-FDC4-4A3C-0DCF-A83D308FC5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9FD9CE-B1E5-229E-B625-C2A2E2365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18812-4B8C-0F51-AAB1-6E91DC231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27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0971E-91B7-CFD0-660F-1AE297384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711F35-E25B-7C2B-0E90-D24E826C6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50788C-60AB-A8D1-3EC3-F847F8190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4743F-6E96-D0B6-3038-AF6A0715F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207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8C0C6-E611-D0A7-9143-B5904DCE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3EECB0-FC22-2A90-5F51-77FDBBDA4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BAA393-9A2F-5DF7-CCA4-991A1E6A6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349D-2FB0-8C9F-E746-8C6ABD8C28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591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ACED6-598F-20D8-88F9-9DF7E8B87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427B7-7801-73E6-35E8-48F0D11C1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5D6F0-951E-2C27-D932-4405B04D2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303E3-D0B7-6818-E54B-C3A8A659D5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03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9B5B7-C64C-A226-8FF7-36F130C9C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57AE6-3B8A-D732-80C8-692518AF24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5CEB70-66D7-AC49-2E56-EA2D67F1E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449F14-4830-827B-A049-CC11AD7A7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18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396A0-7119-D798-11E5-7E609E07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09BC0-2B79-1A22-AC2A-9670EDC16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D2E82-833B-6CC7-C841-AF4A0FAA75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305D9-6ED5-21FB-633B-B782B8DB85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11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FB4DB-A8B8-9988-D43C-1EE15C4F4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6715B-379C-C23D-5D26-90D57242F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1B0831-7BCA-FC9B-078B-A0E151965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73C9E-082D-A717-3E0C-3EDA3D7F2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13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49E55-3BF9-746D-F4A8-AFF58407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9B6A5-2B99-99A5-2357-736029143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1A1ED8-6477-14BB-B33D-7DB185E47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FEE4F-CB48-4CC2-D1B8-AA0EB8FB8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988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344D-5269-07CC-C188-AA4BCF9C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F6A85-7D9F-F5BA-1018-294E39FDA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357300-80B3-E1C2-410A-EC01CD19E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47247-1C14-1EFD-A74C-003BE1CF3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69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5868B-56DF-935F-9C45-DD005E3B2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DB3A7-5ECF-A87D-0B94-6C42BDA75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467DA-E60B-352B-2FDD-0ABE0B89D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C4F16-C409-902B-74FE-C276600EE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232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B770D-B22E-B380-97BB-FC998EF5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3EF3C4-B0D7-B8F4-C02C-7087A6CC0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01FE9F-692F-0935-3993-873B335A7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B7E82-0622-A785-B11F-7C3ABAE80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50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1F808-388E-4C4B-3344-92FE19F0F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16A5C-47B6-1192-C181-0DB657104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278CD9-8A8A-2642-B468-C42EBDF39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4EAEA-2239-2DF1-5D72-79B5F1AA02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E477F-E61E-4214-81A0-32944194C9F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1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680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72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6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621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71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0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59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66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70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ion with Subtitle">
  <p:cSld name="Comparision with Subtitl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6"/>
          <p:cNvSpPr txBox="1">
            <a:spLocks noGrp="1"/>
          </p:cNvSpPr>
          <p:nvPr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Google Shape;38;p36" title="Bullet Points"/>
          <p:cNvSpPr txBox="1">
            <a:spLocks noGrp="1"/>
          </p:cNvSpPr>
          <p:nvPr>
            <p:ph type="body" idx="2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7A4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3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2E7A40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36" title="Bullet Points"/>
          <p:cNvSpPr txBox="1">
            <a:spLocks noGrp="1"/>
          </p:cNvSpPr>
          <p:nvPr>
            <p:ph type="body" idx="4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7A4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Google Shape;41;p36" title="Subtitle"/>
          <p:cNvSpPr txBox="1">
            <a:spLocks noGrp="1"/>
          </p:cNvSpPr>
          <p:nvPr>
            <p:ph type="body" idx="5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E7A4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E7A4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45" name="Google Shape;45;p36"/>
          <p:cNvSpPr txBox="1">
            <a:spLocks noGrp="1"/>
          </p:cNvSpPr>
          <p:nvPr>
            <p:ph type="sldNum" idx="12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  <p:sp>
        <p:nvSpPr>
          <p:cNvPr id="46" name="Google Shape;46;p36" title="Title "/>
          <p:cNvSpPr txBox="1">
            <a:spLocks noGrp="1"/>
          </p:cNvSpPr>
          <p:nvPr>
            <p:ph type="title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80796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alphaModFix amt="3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2AC1436-649B-4714-A499-28504FCBD421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0F494A59-E370-460D-AFA1-AD533E024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40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navoneel/brain-mri-images-for-brain-tumor-detection" TargetMode="External"/><Relationship Id="rId2" Type="http://schemas.openxmlformats.org/officeDocument/2006/relationships/hyperlink" Target="https://www.kaggle.com/datasets/mateuszbuda/lgg-mri-segmentation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jp797498e/twitter-entity-sentiment-analysis/data" TargetMode="Externa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D7856A76-1CBE-0971-B8C7-B14F28FDB31A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-3383"/>
            <a:ext cx="1681316" cy="155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itle 23">
            <a:extLst>
              <a:ext uri="{FF2B5EF4-FFF2-40B4-BE49-F238E27FC236}">
                <a16:creationId xmlns:a16="http://schemas.microsoft.com/office/drawing/2014/main" id="{71E462D1-1932-7366-663F-0F626703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13" y="3712864"/>
            <a:ext cx="11707318" cy="1141497"/>
          </a:xfrm>
        </p:spPr>
        <p:txBody>
          <a:bodyPr>
            <a:noAutofit/>
          </a:bodyPr>
          <a:lstStyle/>
          <a:p>
            <a:r>
              <a:rPr lang="en-US" sz="4400" b="1" cap="none" dirty="0"/>
              <a:t>AI &amp; Data Science Training Program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BA8F36C-56C6-5097-0E0D-7BAEED445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76778" y="5185102"/>
            <a:ext cx="9638443" cy="71802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u="sng" dirty="0">
                <a:solidFill>
                  <a:schemeClr val="tx1"/>
                </a:solidFill>
              </a:rPr>
              <a:t>ENG : Youssef Elbadry</a:t>
            </a:r>
          </a:p>
        </p:txBody>
      </p:sp>
    </p:spTree>
    <p:extLst>
      <p:ext uri="{BB962C8B-B14F-4D97-AF65-F5344CB8AC3E}">
        <p14:creationId xmlns:p14="http://schemas.microsoft.com/office/powerpoint/2010/main" val="4193490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3A3AD-FE86-381A-78E9-54CD1CEFF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2A60C0F0-D3FD-4020-55DC-2D8ECD8F246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0" y="-3383"/>
            <a:ext cx="1681316" cy="155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map of a road with pins and text&#10;&#10;AI-generated content may be incorrect.">
            <a:extLst>
              <a:ext uri="{FF2B5EF4-FFF2-40B4-BE49-F238E27FC236}">
                <a16:creationId xmlns:a16="http://schemas.microsoft.com/office/drawing/2014/main" id="{69051EAE-B8B7-CA63-C643-4145AC8E8E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69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3B5F1-12AB-7F2B-BF82-B3A843377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robot touching a screen&#10;&#10;AI-generated content may be incorrect.">
            <a:extLst>
              <a:ext uri="{FF2B5EF4-FFF2-40B4-BE49-F238E27FC236}">
                <a16:creationId xmlns:a16="http://schemas.microsoft.com/office/drawing/2014/main" id="{FF576EFB-45E5-EBC9-0D3C-FA4648CDF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66" b="-2821"/>
          <a:stretch>
            <a:fillRect/>
          </a:stretch>
        </p:blipFill>
        <p:spPr>
          <a:xfrm>
            <a:off x="-542441" y="-7629"/>
            <a:ext cx="12734441" cy="7059358"/>
          </a:xfrm>
          <a:prstGeom prst="rect">
            <a:avLst/>
          </a:prstGeom>
        </p:spPr>
      </p:pic>
      <p:pic>
        <p:nvPicPr>
          <p:cNvPr id="20" name="Google Shape;90;p1">
            <a:extLst>
              <a:ext uri="{FF2B5EF4-FFF2-40B4-BE49-F238E27FC236}">
                <a16:creationId xmlns:a16="http://schemas.microsoft.com/office/drawing/2014/main" id="{A7749B8F-0C60-8DE1-7AC7-87EFE9E7342D}"/>
              </a:ext>
            </a:extLst>
          </p:cNvPr>
          <p:cNvPicPr preferRelativeResize="0"/>
          <p:nvPr/>
        </p:nvPicPr>
        <p:blipFill>
          <a:blip r:embed="rId4"/>
          <a:srcRect r="11111"/>
          <a:stretch>
            <a:fillRect/>
          </a:stretch>
        </p:blipFill>
        <p:spPr>
          <a:xfrm>
            <a:off x="7000875" y="-2106060"/>
            <a:ext cx="5474142" cy="5731942"/>
          </a:xfrm>
          <a:prstGeom prst="rect">
            <a:avLst/>
          </a:prstGeom>
          <a:noFill/>
        </p:spPr>
      </p:pic>
      <p:sp>
        <p:nvSpPr>
          <p:cNvPr id="7" name="Title 23">
            <a:extLst>
              <a:ext uri="{FF2B5EF4-FFF2-40B4-BE49-F238E27FC236}">
                <a16:creationId xmlns:a16="http://schemas.microsoft.com/office/drawing/2014/main" id="{A512C858-FD1C-9C32-AF97-9E176441C2E0}"/>
              </a:ext>
            </a:extLst>
          </p:cNvPr>
          <p:cNvSpPr txBox="1">
            <a:spLocks/>
          </p:cNvSpPr>
          <p:nvPr/>
        </p:nvSpPr>
        <p:spPr bwMode="blackWhite">
          <a:xfrm>
            <a:off x="1328979" y="4286056"/>
            <a:ext cx="8991600" cy="1645920"/>
          </a:xfrm>
          <a:prstGeom prst="rect">
            <a:avLst/>
          </a:prstGeom>
          <a:solidFill>
            <a:schemeClr val="bg1">
              <a:alpha val="60000"/>
            </a:schemeClr>
          </a:solidFill>
          <a:ln w="38100" cap="sq">
            <a:solidFill>
              <a:schemeClr val="tx1"/>
            </a:solidFill>
            <a:miter lim="800000"/>
          </a:ln>
        </p:spPr>
        <p:txBody>
          <a:bodyPr vert="horz" lIns="274320" tIns="182880" rIns="27432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800" b="1" dirty="0">
                <a:solidFill>
                  <a:schemeClr val="tx1"/>
                </a:solidFill>
              </a:rPr>
              <a:t>1-Intro About Training</a:t>
            </a:r>
          </a:p>
        </p:txBody>
      </p:sp>
    </p:spTree>
    <p:extLst>
      <p:ext uri="{BB962C8B-B14F-4D97-AF65-F5344CB8AC3E}">
        <p14:creationId xmlns:p14="http://schemas.microsoft.com/office/powerpoint/2010/main" val="95206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31D3CA-6A16-6CF9-6E27-6F772C419034}"/>
              </a:ext>
            </a:extLst>
          </p:cNvPr>
          <p:cNvSpPr txBox="1"/>
          <p:nvPr/>
        </p:nvSpPr>
        <p:spPr>
          <a:xfrm>
            <a:off x="302302" y="709084"/>
            <a:ext cx="11587396" cy="9140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solidFill>
                  <a:schemeClr val="bg2"/>
                </a:solidFill>
              </a:rPr>
              <a:t>Introduction: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AI &amp; Data Science Training Program</a:t>
            </a:r>
          </a:p>
          <a:p>
            <a:r>
              <a:rPr lang="en-US" sz="2800" dirty="0">
                <a:solidFill>
                  <a:schemeClr val="bg1"/>
                </a:solidFill>
              </a:rPr>
              <a:t>Sprint-Based Learning – From Fundamentals to Advanced Deployment</a:t>
            </a:r>
          </a:p>
          <a:p>
            <a:r>
              <a:rPr lang="en-US" sz="2800" dirty="0">
                <a:solidFill>
                  <a:schemeClr val="bg1"/>
                </a:solidFill>
              </a:rPr>
              <a:t>4 Weeks | 4 Sprints | Hands-On Projects | Real-World Skills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2"/>
                </a:solidFill>
              </a:rPr>
              <a:t>Why Sprint-Based Learning?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Bullet Points: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Rapid, focused learning to simulate real-world deadlines.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Project-based to build portfolio &amp; boost employability.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Weekly feedback loops for continuous improvement.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Encourages consistency, collaboration, and LinkedIn visibility.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5155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52BE4-8E47-E9DA-3360-E4083557B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00D875-F381-06C6-3E23-5BD28A18A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718734"/>
              </p:ext>
            </p:extLst>
          </p:nvPr>
        </p:nvGraphicFramePr>
        <p:xfrm>
          <a:off x="157162" y="1857375"/>
          <a:ext cx="11877675" cy="4324349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1337639">
                  <a:extLst>
                    <a:ext uri="{9D8B030D-6E8A-4147-A177-3AD203B41FA5}">
                      <a16:colId xmlns:a16="http://schemas.microsoft.com/office/drawing/2014/main" val="1970399685"/>
                    </a:ext>
                  </a:extLst>
                </a:gridCol>
                <a:gridCol w="4020174">
                  <a:extLst>
                    <a:ext uri="{9D8B030D-6E8A-4147-A177-3AD203B41FA5}">
                      <a16:colId xmlns:a16="http://schemas.microsoft.com/office/drawing/2014/main" val="3651132843"/>
                    </a:ext>
                  </a:extLst>
                </a:gridCol>
                <a:gridCol w="6519862">
                  <a:extLst>
                    <a:ext uri="{9D8B030D-6E8A-4147-A177-3AD203B41FA5}">
                      <a16:colId xmlns:a16="http://schemas.microsoft.com/office/drawing/2014/main" val="2552244451"/>
                    </a:ext>
                  </a:extLst>
                </a:gridCol>
              </a:tblGrid>
              <a:tr h="455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Week</a:t>
                      </a:r>
                    </a:p>
                  </a:txBody>
                  <a:tcPr marL="81631" marR="81631" marT="40815" marB="40815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Focus Area</a:t>
                      </a:r>
                    </a:p>
                  </a:txBody>
                  <a:tcPr marL="81631" marR="81631" marT="40815" marB="40815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Main Deliverable</a:t>
                      </a:r>
                    </a:p>
                  </a:txBody>
                  <a:tcPr marL="81631" marR="81631" marT="40815" marB="40815" anchor="ctr"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6594389"/>
                  </a:ext>
                </a:extLst>
              </a:tr>
              <a:tr h="796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1631" marR="81631" marT="40815" marB="40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Data Analysis</a:t>
                      </a:r>
                    </a:p>
                  </a:txBody>
                  <a:tcPr marL="81631" marR="81631" marT="40815" marB="40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Data Analysis Project + Deployment</a:t>
                      </a:r>
                    </a:p>
                  </a:txBody>
                  <a:tcPr marL="81631" marR="81631" marT="40815" marB="40815" anchor="ctr"/>
                </a:tc>
                <a:extLst>
                  <a:ext uri="{0D108BD9-81ED-4DB2-BD59-A6C34878D82A}">
                    <a16:rowId xmlns:a16="http://schemas.microsoft.com/office/drawing/2014/main" val="306041474"/>
                  </a:ext>
                </a:extLst>
              </a:tr>
              <a:tr h="1137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1631" marR="81631" marT="40815" marB="40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Computer Vision (CNN)</a:t>
                      </a:r>
                    </a:p>
                  </a:txBody>
                  <a:tcPr marL="81631" marR="81631" marT="40815" marB="40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CNN Projects +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Streamlit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/Flask Deployment</a:t>
                      </a:r>
                    </a:p>
                  </a:txBody>
                  <a:tcPr marL="81631" marR="81631" marT="40815" marB="40815" anchor="ctr"/>
                </a:tc>
                <a:extLst>
                  <a:ext uri="{0D108BD9-81ED-4DB2-BD59-A6C34878D82A}">
                    <a16:rowId xmlns:a16="http://schemas.microsoft.com/office/drawing/2014/main" val="1537629019"/>
                  </a:ext>
                </a:extLst>
              </a:tr>
              <a:tr h="1137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1631" marR="81631" marT="40815" marB="40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NLP &amp; RNN</a:t>
                      </a:r>
                    </a:p>
                  </a:txBody>
                  <a:tcPr marL="81631" marR="81631" marT="40815" marB="40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NLP Projects + </a:t>
                      </a:r>
                      <a:r>
                        <a:rPr lang="en-US" sz="2400" dirty="0" err="1">
                          <a:solidFill>
                            <a:schemeClr val="bg1"/>
                          </a:solidFill>
                        </a:rPr>
                        <a:t>Streamlit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/Flask Deployment</a:t>
                      </a:r>
                    </a:p>
                  </a:txBody>
                  <a:tcPr marL="81631" marR="81631" marT="40815" marB="40815" anchor="ctr"/>
                </a:tc>
                <a:extLst>
                  <a:ext uri="{0D108BD9-81ED-4DB2-BD59-A6C34878D82A}">
                    <a16:rowId xmlns:a16="http://schemas.microsoft.com/office/drawing/2014/main" val="3756696381"/>
                  </a:ext>
                </a:extLst>
              </a:tr>
              <a:tr h="796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1631" marR="81631" marT="40815" marB="40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Advanced Topics</a:t>
                      </a:r>
                    </a:p>
                  </a:txBody>
                  <a:tcPr marL="81631" marR="81631" marT="40815" marB="4081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400" dirty="0">
                          <a:solidFill>
                            <a:schemeClr val="bg1"/>
                          </a:solidFill>
                        </a:rPr>
                        <a:t>Study GANs &amp; AI Agents + Mini Capstone</a:t>
                      </a:r>
                    </a:p>
                  </a:txBody>
                  <a:tcPr marL="81631" marR="81631" marT="40815" marB="40815" anchor="ctr"/>
                </a:tc>
                <a:extLst>
                  <a:ext uri="{0D108BD9-81ED-4DB2-BD59-A6C34878D82A}">
                    <a16:rowId xmlns:a16="http://schemas.microsoft.com/office/drawing/2014/main" val="16816947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44B586F-D114-621F-BF18-7A280002FCCC}"/>
              </a:ext>
            </a:extLst>
          </p:cNvPr>
          <p:cNvSpPr txBox="1"/>
          <p:nvPr/>
        </p:nvSpPr>
        <p:spPr>
          <a:xfrm>
            <a:off x="2257425" y="509885"/>
            <a:ext cx="70770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Overview of the 4-Week Roadmap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0CAF7-0739-47CB-67AD-6B7767F7CC7E}"/>
              </a:ext>
            </a:extLst>
          </p:cNvPr>
          <p:cNvSpPr txBox="1"/>
          <p:nvPr/>
        </p:nvSpPr>
        <p:spPr>
          <a:xfrm>
            <a:off x="257175" y="1358384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bg1"/>
                </a:solidFill>
              </a:rPr>
              <a:t>📅 Weekly Sprint Structure</a:t>
            </a:r>
          </a:p>
        </p:txBody>
      </p:sp>
    </p:spTree>
    <p:extLst>
      <p:ext uri="{BB962C8B-B14F-4D97-AF65-F5344CB8AC3E}">
        <p14:creationId xmlns:p14="http://schemas.microsoft.com/office/powerpoint/2010/main" val="3937824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14485A-4BC1-FAEB-8CF3-B2E32881A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with a graph and a magnifying glass&#10;&#10;AI-generated content may be incorrect.">
            <a:extLst>
              <a:ext uri="{FF2B5EF4-FFF2-40B4-BE49-F238E27FC236}">
                <a16:creationId xmlns:a16="http://schemas.microsoft.com/office/drawing/2014/main" id="{8371F98C-B4F6-CECB-81D6-30DA1B996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23">
            <a:extLst>
              <a:ext uri="{FF2B5EF4-FFF2-40B4-BE49-F238E27FC236}">
                <a16:creationId xmlns:a16="http://schemas.microsoft.com/office/drawing/2014/main" id="{3FAA6B3F-443A-0E4D-D3F9-B6CF17E261CF}"/>
              </a:ext>
            </a:extLst>
          </p:cNvPr>
          <p:cNvSpPr txBox="1">
            <a:spLocks/>
          </p:cNvSpPr>
          <p:nvPr/>
        </p:nvSpPr>
        <p:spPr bwMode="blackWhite">
          <a:xfrm>
            <a:off x="1599887" y="5372100"/>
            <a:ext cx="8801413" cy="112020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274320" tIns="182880" rIns="27432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800" b="1" dirty="0">
                <a:solidFill>
                  <a:schemeClr val="tx1"/>
                </a:solidFill>
              </a:rPr>
              <a:t>2-</a:t>
            </a:r>
            <a:r>
              <a:rPr lang="en-US" sz="4000" b="1" dirty="0"/>
              <a:t>Sprint 1 – Data Analysis</a:t>
            </a:r>
            <a:endParaRPr lang="en-US" sz="3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896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49070-5CDA-AFA8-FA3D-E4A246B1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20C210-4A90-A51A-C0DB-37135CABF209}"/>
              </a:ext>
            </a:extLst>
          </p:cNvPr>
          <p:cNvSpPr txBox="1"/>
          <p:nvPr/>
        </p:nvSpPr>
        <p:spPr>
          <a:xfrm>
            <a:off x="302302" y="709084"/>
            <a:ext cx="115873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Objectives: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Understand dataset structure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Clean, visualize, and interpret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Use Pandas, Matplotlib, Seaborn, and </a:t>
            </a:r>
            <a:r>
              <a:rPr lang="en-US" sz="2800" dirty="0" err="1">
                <a:solidFill>
                  <a:schemeClr val="bg1"/>
                </a:solidFill>
              </a:rPr>
              <a:t>Plotly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Deliverable: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Full EDA project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Outcome:</a:t>
            </a:r>
          </a:p>
          <a:p>
            <a:r>
              <a:rPr lang="en-US" sz="2800" dirty="0">
                <a:solidFill>
                  <a:schemeClr val="bg1"/>
                </a:solidFill>
              </a:rPr>
              <a:t>Interactive visual report shared on LinkedIn and GitHub.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4363DA-F328-0560-D601-B489876E2F47}"/>
              </a:ext>
            </a:extLst>
          </p:cNvPr>
          <p:cNvSpPr txBox="1"/>
          <p:nvPr/>
        </p:nvSpPr>
        <p:spPr>
          <a:xfrm>
            <a:off x="2638425" y="362717"/>
            <a:ext cx="7296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📊 Sprint 1: Exploratory 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4BC898-F805-3F86-972D-C23F5B727A0A}"/>
              </a:ext>
            </a:extLst>
          </p:cNvPr>
          <p:cNvSpPr txBox="1"/>
          <p:nvPr/>
        </p:nvSpPr>
        <p:spPr>
          <a:xfrm>
            <a:off x="3943350" y="3209836"/>
            <a:ext cx="76581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Tools: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Pandas, NumPy, Matplotlib, Seaborn, </a:t>
            </a:r>
            <a:r>
              <a:rPr lang="en-US" sz="2800" dirty="0" err="1">
                <a:solidFill>
                  <a:schemeClr val="bg1"/>
                </a:solidFill>
              </a:rPr>
              <a:t>Plotly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DBMS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Power BI </a:t>
            </a:r>
          </a:p>
        </p:txBody>
      </p:sp>
    </p:spTree>
    <p:extLst>
      <p:ext uri="{BB962C8B-B14F-4D97-AF65-F5344CB8AC3E}">
        <p14:creationId xmlns:p14="http://schemas.microsoft.com/office/powerpoint/2010/main" val="853084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58C40-E82B-0A9F-2985-51EF5ED1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eye with a grid and numbers&#10;&#10;AI-generated content may be incorrect.">
            <a:extLst>
              <a:ext uri="{FF2B5EF4-FFF2-40B4-BE49-F238E27FC236}">
                <a16:creationId xmlns:a16="http://schemas.microsoft.com/office/drawing/2014/main" id="{A2ACD5CA-8B36-A3D0-34AA-79262CE8CA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-7639"/>
            <a:ext cx="12191999" cy="6865629"/>
          </a:xfrm>
          <a:prstGeom prst="rect">
            <a:avLst/>
          </a:prstGeom>
        </p:spPr>
      </p:pic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923BDB17-0257-40F6-111F-DCBB968E83E4}"/>
              </a:ext>
            </a:extLst>
          </p:cNvPr>
          <p:cNvPicPr preferRelativeResize="0"/>
          <p:nvPr/>
        </p:nvPicPr>
        <p:blipFill>
          <a:blip r:embed="rId4"/>
          <a:srcRect r="11111"/>
          <a:stretch>
            <a:fillRect/>
          </a:stretch>
        </p:blipFill>
        <p:spPr>
          <a:xfrm>
            <a:off x="3540802" y="516862"/>
            <a:ext cx="4900530" cy="4257207"/>
          </a:xfrm>
          <a:prstGeom prst="rect">
            <a:avLst/>
          </a:prstGeom>
          <a:noFill/>
        </p:spPr>
      </p:pic>
      <p:sp>
        <p:nvSpPr>
          <p:cNvPr id="5" name="Title 23">
            <a:extLst>
              <a:ext uri="{FF2B5EF4-FFF2-40B4-BE49-F238E27FC236}">
                <a16:creationId xmlns:a16="http://schemas.microsoft.com/office/drawing/2014/main" id="{BF4F623C-3650-3860-F0A4-3C78629DA726}"/>
              </a:ext>
            </a:extLst>
          </p:cNvPr>
          <p:cNvSpPr txBox="1">
            <a:spLocks/>
          </p:cNvSpPr>
          <p:nvPr/>
        </p:nvSpPr>
        <p:spPr bwMode="blackWhite">
          <a:xfrm>
            <a:off x="1495111" y="5298569"/>
            <a:ext cx="9563725" cy="104256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274320" tIns="182880" rIns="27432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2800" b="1" dirty="0"/>
              <a:t>3-Sprint 2 – Computer Vision with CNN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75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35BAA-B954-1B75-64A3-496B9DF2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232159-4416-57F0-4410-286E0E75B7A4}"/>
              </a:ext>
            </a:extLst>
          </p:cNvPr>
          <p:cNvSpPr txBox="1"/>
          <p:nvPr/>
        </p:nvSpPr>
        <p:spPr>
          <a:xfrm>
            <a:off x="302302" y="716660"/>
            <a:ext cx="1158739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Projects: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Brain Tumor Classification &amp; Segmentation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Parking Space Counter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Car License plate detection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Tools: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Pre-Trained Models (Resnet – </a:t>
            </a:r>
            <a:r>
              <a:rPr lang="en-US" sz="2800" dirty="0" err="1">
                <a:solidFill>
                  <a:schemeClr val="bg1"/>
                </a:solidFill>
              </a:rPr>
              <a:t>Efficientnet</a:t>
            </a:r>
            <a:r>
              <a:rPr lang="en-US" sz="2800" dirty="0">
                <a:solidFill>
                  <a:schemeClr val="bg1"/>
                </a:solidFill>
              </a:rPr>
              <a:t> – </a:t>
            </a:r>
            <a:r>
              <a:rPr lang="en-US" sz="2800" dirty="0" err="1">
                <a:solidFill>
                  <a:schemeClr val="bg1"/>
                </a:solidFill>
              </a:rPr>
              <a:t>Googlenet</a:t>
            </a:r>
            <a:r>
              <a:rPr lang="en-US" sz="2800" dirty="0">
                <a:solidFill>
                  <a:schemeClr val="bg1"/>
                </a:solidFill>
              </a:rPr>
              <a:t> – </a:t>
            </a:r>
            <a:r>
              <a:rPr lang="en-US" sz="2800" dirty="0" err="1">
                <a:solidFill>
                  <a:schemeClr val="bg1"/>
                </a:solidFill>
              </a:rPr>
              <a:t>Unet</a:t>
            </a:r>
            <a:r>
              <a:rPr lang="en-US" sz="28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Yolo &amp; </a:t>
            </a:r>
            <a:r>
              <a:rPr lang="en-US" sz="2800" dirty="0" err="1">
                <a:solidFill>
                  <a:schemeClr val="bg1"/>
                </a:solidFill>
              </a:rPr>
              <a:t>Roboflow</a:t>
            </a:r>
            <a:r>
              <a:rPr lang="en-US" sz="2800" dirty="0">
                <a:solidFill>
                  <a:schemeClr val="bg1"/>
                </a:solidFill>
              </a:rPr>
              <a:t>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</a:rPr>
              <a:t>Tensorflow</a:t>
            </a:r>
            <a:r>
              <a:rPr lang="en-US" sz="2800" dirty="0">
                <a:solidFill>
                  <a:schemeClr val="bg1"/>
                </a:solidFill>
              </a:rPr>
              <a:t> – </a:t>
            </a:r>
            <a:r>
              <a:rPr lang="en-US" sz="2800" dirty="0" err="1">
                <a:solidFill>
                  <a:schemeClr val="bg1"/>
                </a:solidFill>
              </a:rPr>
              <a:t>Keras</a:t>
            </a:r>
            <a:r>
              <a:rPr lang="en-US" sz="2800" dirty="0">
                <a:solidFill>
                  <a:schemeClr val="bg1"/>
                </a:solidFill>
              </a:rPr>
              <a:t> – Hugging Face – </a:t>
            </a:r>
            <a:r>
              <a:rPr lang="en-US" sz="2800" dirty="0" err="1">
                <a:solidFill>
                  <a:schemeClr val="bg1"/>
                </a:solidFill>
              </a:rPr>
              <a:t>Pytorch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Deployment (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– Flask )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Deliverables: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3 working deployed apps + LinkedIn posts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GitHub repo with README and usage instructions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A9AA8-767C-C208-3A4D-1A777A83AF52}"/>
              </a:ext>
            </a:extLst>
          </p:cNvPr>
          <p:cNvSpPr txBox="1"/>
          <p:nvPr/>
        </p:nvSpPr>
        <p:spPr>
          <a:xfrm>
            <a:off x="1470363" y="193440"/>
            <a:ext cx="92512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🧠 Sprint 2: Deep Learning – CNN &amp; Computer Vision</a:t>
            </a:r>
          </a:p>
        </p:txBody>
      </p:sp>
    </p:spTree>
    <p:extLst>
      <p:ext uri="{BB962C8B-B14F-4D97-AF65-F5344CB8AC3E}">
        <p14:creationId xmlns:p14="http://schemas.microsoft.com/office/powerpoint/2010/main" val="4238890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51C33-85A2-9125-C5B8-A9BB22C3A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498333-7CAA-2189-71D7-0ACBC0101855}"/>
              </a:ext>
            </a:extLst>
          </p:cNvPr>
          <p:cNvSpPr txBox="1"/>
          <p:nvPr/>
        </p:nvSpPr>
        <p:spPr>
          <a:xfrm>
            <a:off x="209862" y="988883"/>
            <a:ext cx="1107726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Objective: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Detect and classify brain tumors (Benign, Malignant, or None)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Segment tumor regions from MRI images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Datasets: </a:t>
            </a:r>
          </a:p>
          <a:p>
            <a:r>
              <a:rPr lang="en-US" sz="2000" dirty="0">
                <a:solidFill>
                  <a:schemeClr val="bg1"/>
                </a:solidFill>
                <a:hlinkClick r:id="rId2"/>
              </a:rPr>
              <a:t>https://www.kaggle.com/datasets/mateuszbuda/lgg-mri-segmentation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  <a:hlinkClick r:id="rId3"/>
              </a:rPr>
              <a:t>https://www.kaggle.com/datasets/navoneel/brain-mri-images-for-brain-tumor-detection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Tools &amp; Models Used: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Classification: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ResNet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EfficientNet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GoogleNet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Segmentation:</a:t>
            </a:r>
            <a:r>
              <a:rPr lang="en-US" sz="2800" dirty="0">
                <a:solidFill>
                  <a:schemeClr val="bg1"/>
                </a:solidFill>
              </a:rPr>
              <a:t> U-Net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Libraries:</a:t>
            </a:r>
            <a:r>
              <a:rPr lang="en-US" sz="2800" dirty="0">
                <a:solidFill>
                  <a:schemeClr val="bg1"/>
                </a:solidFill>
              </a:rPr>
              <a:t> TensorFlow, </a:t>
            </a:r>
            <a:r>
              <a:rPr lang="en-US" sz="2800" dirty="0" err="1">
                <a:solidFill>
                  <a:schemeClr val="bg1"/>
                </a:solidFill>
              </a:rPr>
              <a:t>Keras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dirty="0" err="1">
                <a:solidFill>
                  <a:schemeClr val="bg1"/>
                </a:solidFill>
              </a:rPr>
              <a:t>PyTorch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Deployment: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or Flask web app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7B492-93BC-3617-1B49-9530842283A3}"/>
              </a:ext>
            </a:extLst>
          </p:cNvPr>
          <p:cNvSpPr txBox="1"/>
          <p:nvPr/>
        </p:nvSpPr>
        <p:spPr>
          <a:xfrm>
            <a:off x="1866899" y="151338"/>
            <a:ext cx="79819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1. Brain Tumor Classification &amp; Segmentation</a:t>
            </a:r>
          </a:p>
        </p:txBody>
      </p:sp>
    </p:spTree>
    <p:extLst>
      <p:ext uri="{BB962C8B-B14F-4D97-AF65-F5344CB8AC3E}">
        <p14:creationId xmlns:p14="http://schemas.microsoft.com/office/powerpoint/2010/main" val="2924183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3F07C-633B-2E16-CF8C-2CD03F3D0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F58033-4782-330C-9E2F-602E39E6A201}"/>
              </a:ext>
            </a:extLst>
          </p:cNvPr>
          <p:cNvSpPr txBox="1"/>
          <p:nvPr/>
        </p:nvSpPr>
        <p:spPr>
          <a:xfrm>
            <a:off x="209862" y="988883"/>
            <a:ext cx="1107726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Objective: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Detect empty vs occupied parking slots from video feed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Video: </a:t>
            </a:r>
            <a:r>
              <a:rPr lang="en-US" sz="2800" dirty="0">
                <a:solidFill>
                  <a:schemeClr val="bg1"/>
                </a:solidFill>
              </a:rPr>
              <a:t>Choose any video you want 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Tools &amp; Models Used: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Preprocessing with OpenCV</a:t>
            </a:r>
          </a:p>
          <a:p>
            <a:r>
              <a:rPr lang="en-US" sz="2800" dirty="0">
                <a:solidFill>
                  <a:schemeClr val="bg1"/>
                </a:solidFill>
              </a:rPr>
              <a:t>Detection via </a:t>
            </a:r>
            <a:r>
              <a:rPr lang="en-US" sz="2800" b="1" dirty="0">
                <a:solidFill>
                  <a:schemeClr val="bg1"/>
                </a:solidFill>
              </a:rPr>
              <a:t>YOLOv8</a:t>
            </a:r>
            <a:r>
              <a:rPr lang="en-US" sz="2800" dirty="0">
                <a:solidFill>
                  <a:schemeClr val="bg1"/>
                </a:solidFill>
              </a:rPr>
              <a:t> with custom-trained data on </a:t>
            </a:r>
            <a:r>
              <a:rPr lang="en-US" sz="2800" dirty="0" err="1">
                <a:solidFill>
                  <a:schemeClr val="bg1"/>
                </a:solidFill>
              </a:rPr>
              <a:t>Roboflow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Frame-by-frame space counting logic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Deployment:</a:t>
            </a:r>
            <a:r>
              <a:rPr lang="en-US" sz="2800" dirty="0">
                <a:solidFill>
                  <a:schemeClr val="bg1"/>
                </a:solidFill>
              </a:rPr>
              <a:t> Flask for real-time video stream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6E4A8E-9883-9DA3-C540-C2979716F409}"/>
              </a:ext>
            </a:extLst>
          </p:cNvPr>
          <p:cNvSpPr txBox="1"/>
          <p:nvPr/>
        </p:nvSpPr>
        <p:spPr>
          <a:xfrm>
            <a:off x="3500592" y="151338"/>
            <a:ext cx="44958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2. Parking Space Counter</a:t>
            </a:r>
          </a:p>
        </p:txBody>
      </p:sp>
    </p:spTree>
    <p:extLst>
      <p:ext uri="{BB962C8B-B14F-4D97-AF65-F5344CB8AC3E}">
        <p14:creationId xmlns:p14="http://schemas.microsoft.com/office/powerpoint/2010/main" val="2571348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09DB0-9D1F-1F08-EF01-A60136C60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38221D-E069-DE25-9C12-DE4E44D70E5C}"/>
              </a:ext>
            </a:extLst>
          </p:cNvPr>
          <p:cNvSpPr txBox="1"/>
          <p:nvPr/>
        </p:nvSpPr>
        <p:spPr>
          <a:xfrm>
            <a:off x="400362" y="1074608"/>
            <a:ext cx="110772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Objective: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Detect vehicles and extract license plate text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Video: </a:t>
            </a:r>
            <a:r>
              <a:rPr lang="en-US" sz="2800" dirty="0">
                <a:solidFill>
                  <a:schemeClr val="bg1"/>
                </a:solidFill>
              </a:rPr>
              <a:t>Choose any video you want 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Tools &amp; Models Used: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YOLO for detection (trained with </a:t>
            </a:r>
            <a:r>
              <a:rPr lang="en-US" sz="2800" dirty="0" err="1">
                <a:solidFill>
                  <a:schemeClr val="bg1"/>
                </a:solidFill>
              </a:rPr>
              <a:t>Roboflow</a:t>
            </a:r>
            <a:r>
              <a:rPr lang="en-US" sz="2800" dirty="0">
                <a:solidFill>
                  <a:schemeClr val="bg1"/>
                </a:solidFill>
              </a:rPr>
              <a:t> dataset)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</a:rPr>
              <a:t>EasyOCR</a:t>
            </a:r>
            <a:r>
              <a:rPr lang="en-US" sz="2800" dirty="0">
                <a:solidFill>
                  <a:schemeClr val="bg1"/>
                </a:solidFill>
              </a:rPr>
              <a:t> / Tesseract for license number recognition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OpenCV for image preprocessing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Flask or </a:t>
            </a: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to deploy a live detection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A6D01-0BE3-EFAC-E2A2-5A491E02C376}"/>
              </a:ext>
            </a:extLst>
          </p:cNvPr>
          <p:cNvSpPr txBox="1"/>
          <p:nvPr/>
        </p:nvSpPr>
        <p:spPr>
          <a:xfrm>
            <a:off x="2745658" y="208488"/>
            <a:ext cx="6700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3. Car License Plate Detection &amp; OCR</a:t>
            </a:r>
          </a:p>
        </p:txBody>
      </p:sp>
    </p:spTree>
    <p:extLst>
      <p:ext uri="{BB962C8B-B14F-4D97-AF65-F5344CB8AC3E}">
        <p14:creationId xmlns:p14="http://schemas.microsoft.com/office/powerpoint/2010/main" val="2024503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4EF5-04A5-BF4F-41CD-DE4CFD37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touching a button&#10;&#10;AI-generated content may be incorrect.">
            <a:extLst>
              <a:ext uri="{FF2B5EF4-FFF2-40B4-BE49-F238E27FC236}">
                <a16:creationId xmlns:a16="http://schemas.microsoft.com/office/drawing/2014/main" id="{AD97BF7B-71F0-E499-319C-CD51F0997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2000" cy="6819900"/>
          </a:xfrm>
          <a:prstGeom prst="rect">
            <a:avLst/>
          </a:prstGeom>
        </p:spPr>
      </p:pic>
      <p:pic>
        <p:nvPicPr>
          <p:cNvPr id="9" name="Google Shape;90;p1">
            <a:extLst>
              <a:ext uri="{FF2B5EF4-FFF2-40B4-BE49-F238E27FC236}">
                <a16:creationId xmlns:a16="http://schemas.microsoft.com/office/drawing/2014/main" id="{112F434E-1261-444E-1343-B881609F565C}"/>
              </a:ext>
            </a:extLst>
          </p:cNvPr>
          <p:cNvPicPr preferRelativeResize="0"/>
          <p:nvPr/>
        </p:nvPicPr>
        <p:blipFill>
          <a:blip r:embed="rId4"/>
          <a:srcRect r="11111"/>
          <a:stretch>
            <a:fillRect/>
          </a:stretch>
        </p:blipFill>
        <p:spPr>
          <a:xfrm>
            <a:off x="4904905" y="-1032172"/>
            <a:ext cx="4900530" cy="4442122"/>
          </a:xfrm>
          <a:prstGeom prst="rect">
            <a:avLst/>
          </a:prstGeom>
          <a:noFill/>
        </p:spPr>
      </p:pic>
      <p:sp>
        <p:nvSpPr>
          <p:cNvPr id="10" name="Title 23">
            <a:extLst>
              <a:ext uri="{FF2B5EF4-FFF2-40B4-BE49-F238E27FC236}">
                <a16:creationId xmlns:a16="http://schemas.microsoft.com/office/drawing/2014/main" id="{342FF8F8-C195-5BBD-2633-2043D25BA6AD}"/>
              </a:ext>
            </a:extLst>
          </p:cNvPr>
          <p:cNvSpPr txBox="1">
            <a:spLocks/>
          </p:cNvSpPr>
          <p:nvPr/>
        </p:nvSpPr>
        <p:spPr bwMode="blackWhite">
          <a:xfrm>
            <a:off x="2231190" y="5324474"/>
            <a:ext cx="7960559" cy="107195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274320" tIns="182880" rIns="27432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/>
              <a:t>4-Sprint 3 – NLP &amp; RNN</a:t>
            </a:r>
            <a:endParaRPr lang="en-US" sz="3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079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890E3-FE52-2B94-5029-59DFDFE9D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2E5E525-BB0D-A4A3-28F9-F6D2D75EBCE2}"/>
              </a:ext>
            </a:extLst>
          </p:cNvPr>
          <p:cNvSpPr txBox="1"/>
          <p:nvPr/>
        </p:nvSpPr>
        <p:spPr>
          <a:xfrm>
            <a:off x="302302" y="926210"/>
            <a:ext cx="115873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Projects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Sentiment Analysis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RAG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Text Summarizer&amp; Question Answering</a:t>
            </a:r>
            <a:endParaRPr lang="en-US" sz="2800" b="1" dirty="0">
              <a:solidFill>
                <a:schemeClr val="bg1"/>
              </a:solidFill>
            </a:endParaRP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Skills: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Tokenization, vectorization, sequence modeling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Transformer models: BERT, </a:t>
            </a:r>
            <a:r>
              <a:rPr lang="en-US" sz="2800" dirty="0" err="1">
                <a:solidFill>
                  <a:schemeClr val="bg1"/>
                </a:solidFill>
              </a:rPr>
              <a:t>RoBERTa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LSTM / GRU for sequence generation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Deployment: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apps with live user input support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Optional: Flask API + frontend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417A4-4ABB-52CA-46B5-42B9FE509374}"/>
              </a:ext>
            </a:extLst>
          </p:cNvPr>
          <p:cNvSpPr txBox="1"/>
          <p:nvPr/>
        </p:nvSpPr>
        <p:spPr>
          <a:xfrm>
            <a:off x="1470363" y="193440"/>
            <a:ext cx="9064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🗣️ Sprint 3: Natural Language Processing &amp; RNNs</a:t>
            </a:r>
          </a:p>
        </p:txBody>
      </p:sp>
    </p:spTree>
    <p:extLst>
      <p:ext uri="{BB962C8B-B14F-4D97-AF65-F5344CB8AC3E}">
        <p14:creationId xmlns:p14="http://schemas.microsoft.com/office/powerpoint/2010/main" val="16398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BEF83-8561-7215-F029-5B0610AF9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4B515F-150A-2E4F-61EA-7CBA6439C38B}"/>
              </a:ext>
            </a:extLst>
          </p:cNvPr>
          <p:cNvSpPr txBox="1"/>
          <p:nvPr/>
        </p:nvSpPr>
        <p:spPr>
          <a:xfrm>
            <a:off x="200337" y="865058"/>
            <a:ext cx="11077263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Objective: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Analyze customer feedback or product reviews to determine sentiment (Positive, Negative, Neutral)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Datasets: </a:t>
            </a:r>
          </a:p>
          <a:p>
            <a:r>
              <a:rPr lang="en-US" sz="2000" dirty="0">
                <a:solidFill>
                  <a:schemeClr val="bg1"/>
                </a:solidFill>
                <a:hlinkClick r:id="rId2"/>
              </a:rPr>
              <a:t>https://www.kaggle.com/datasets/jp797498e/twitter-entity-sentiment-analysis/data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Tools &amp; Models Used: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Traditional: </a:t>
            </a:r>
            <a:r>
              <a:rPr lang="en-US" sz="2800" b="1" dirty="0">
                <a:solidFill>
                  <a:schemeClr val="bg1"/>
                </a:solidFill>
              </a:rPr>
              <a:t>TF-IDF + LSTM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Transformer-based: </a:t>
            </a:r>
            <a:r>
              <a:rPr lang="en-US" sz="2800" b="1" dirty="0">
                <a:solidFill>
                  <a:schemeClr val="bg1"/>
                </a:solidFill>
              </a:rPr>
              <a:t>BERT, </a:t>
            </a:r>
            <a:r>
              <a:rPr lang="en-US" sz="2800" b="1" dirty="0" err="1">
                <a:solidFill>
                  <a:schemeClr val="bg1"/>
                </a:solidFill>
              </a:rPr>
              <a:t>RoBERTa</a:t>
            </a:r>
            <a:r>
              <a:rPr lang="en-US" sz="2800" dirty="0">
                <a:solidFill>
                  <a:schemeClr val="bg1"/>
                </a:solidFill>
              </a:rPr>
              <a:t> (via Hugging Face)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Libraries: Scikit-learn, Transformers, </a:t>
            </a:r>
            <a:r>
              <a:rPr lang="en-US" sz="2800" dirty="0" err="1">
                <a:solidFill>
                  <a:schemeClr val="bg1"/>
                </a:solidFill>
              </a:rPr>
              <a:t>PyTorch</a:t>
            </a:r>
            <a:r>
              <a:rPr lang="en-US" sz="2800" dirty="0">
                <a:solidFill>
                  <a:schemeClr val="bg1"/>
                </a:solidFill>
              </a:rPr>
              <a:t>/TensorFlow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Deployment: </a:t>
            </a:r>
            <a:r>
              <a:rPr lang="en-US" sz="2800" b="1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for real-time text input + sentiment output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AAA066-4539-991E-A738-9EC77D38616B}"/>
              </a:ext>
            </a:extLst>
          </p:cNvPr>
          <p:cNvSpPr txBox="1"/>
          <p:nvPr/>
        </p:nvSpPr>
        <p:spPr>
          <a:xfrm>
            <a:off x="3786342" y="237520"/>
            <a:ext cx="39052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1. 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1579552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011C2-761E-94B3-84E5-2C63E64E6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2E68ED-FD2E-86A4-1782-71FDE9EF6D1D}"/>
              </a:ext>
            </a:extLst>
          </p:cNvPr>
          <p:cNvSpPr txBox="1"/>
          <p:nvPr/>
        </p:nvSpPr>
        <p:spPr>
          <a:xfrm>
            <a:off x="445177" y="930645"/>
            <a:ext cx="12042098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Objective: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Build a </a:t>
            </a:r>
            <a:r>
              <a:rPr lang="en-US" sz="2800" b="1" dirty="0">
                <a:solidFill>
                  <a:schemeClr val="bg1"/>
                </a:solidFill>
              </a:rPr>
              <a:t>Q&amp;A system</a:t>
            </a:r>
            <a:r>
              <a:rPr lang="en-US" sz="2800" dirty="0">
                <a:solidFill>
                  <a:schemeClr val="bg1"/>
                </a:solidFill>
              </a:rPr>
              <a:t> that retrieves context from documents and generates answers using a transformer model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Tools &amp; Models Used: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Embedding + FAISS / </a:t>
            </a:r>
            <a:r>
              <a:rPr lang="en-US" sz="2800" b="1" dirty="0" err="1">
                <a:solidFill>
                  <a:schemeClr val="bg1"/>
                </a:solidFill>
              </a:rPr>
              <a:t>ChromaDB</a:t>
            </a:r>
            <a:r>
              <a:rPr lang="en-US" sz="2800" dirty="0">
                <a:solidFill>
                  <a:schemeClr val="bg1"/>
                </a:solidFill>
              </a:rPr>
              <a:t> for retrieval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bg1"/>
                </a:solidFill>
              </a:rPr>
              <a:t>LangChain</a:t>
            </a:r>
            <a:r>
              <a:rPr lang="en-US" sz="2800" dirty="0">
                <a:solidFill>
                  <a:schemeClr val="bg1"/>
                </a:solidFill>
              </a:rPr>
              <a:t> or Hugging Face pipeline for generation (e.g., using BART/GPT)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Documents stored in vector DB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Deployment: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or </a:t>
            </a:r>
            <a:r>
              <a:rPr lang="en-US" sz="2800" b="1" dirty="0">
                <a:solidFill>
                  <a:schemeClr val="bg1"/>
                </a:solidFill>
              </a:rPr>
              <a:t>Flask</a:t>
            </a:r>
            <a:r>
              <a:rPr lang="en-US" sz="2800" dirty="0">
                <a:solidFill>
                  <a:schemeClr val="bg1"/>
                </a:solidFill>
              </a:rPr>
              <a:t> for user input → answer generation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Upload custom PDFs for personalized QA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91B8D-9E6A-C142-7276-356D2DC81B36}"/>
              </a:ext>
            </a:extLst>
          </p:cNvPr>
          <p:cNvSpPr txBox="1"/>
          <p:nvPr/>
        </p:nvSpPr>
        <p:spPr>
          <a:xfrm>
            <a:off x="1706732" y="233489"/>
            <a:ext cx="87785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2. RAG System (Retrieval-Augmented Generation)</a:t>
            </a:r>
          </a:p>
        </p:txBody>
      </p:sp>
    </p:spTree>
    <p:extLst>
      <p:ext uri="{BB962C8B-B14F-4D97-AF65-F5344CB8AC3E}">
        <p14:creationId xmlns:p14="http://schemas.microsoft.com/office/powerpoint/2010/main" val="3698512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3726367-61F5-0DE1-D725-3D5023C8653F}"/>
              </a:ext>
            </a:extLst>
          </p:cNvPr>
          <p:cNvSpPr txBox="1"/>
          <p:nvPr/>
        </p:nvSpPr>
        <p:spPr>
          <a:xfrm>
            <a:off x="467505" y="1075104"/>
            <a:ext cx="1181974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Objective:</a:t>
            </a:r>
            <a:endParaRPr lang="en-US" sz="2800" dirty="0"/>
          </a:p>
          <a:p>
            <a:r>
              <a:rPr lang="en-US" sz="2800" dirty="0"/>
              <a:t>Summarize long articles and answer questions based on them</a:t>
            </a:r>
          </a:p>
          <a:p>
            <a:endParaRPr lang="en-US" sz="2800" b="1" dirty="0"/>
          </a:p>
          <a:p>
            <a:r>
              <a:rPr lang="en-US" sz="2800" b="1" dirty="0"/>
              <a:t>Tools &amp; Models Used: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Summarization:</a:t>
            </a:r>
            <a:r>
              <a:rPr lang="en-US" sz="2800" dirty="0"/>
              <a:t> T5, BART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QA:</a:t>
            </a:r>
            <a:r>
              <a:rPr lang="en-US" sz="2800" dirty="0"/>
              <a:t> BERT fine-tuned / Hugging Face pipeline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Tokenization and encoding via Hugging Face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Streamlit</a:t>
            </a:r>
            <a:r>
              <a:rPr lang="en-US" sz="2800" dirty="0"/>
              <a:t>/Flask for interaction</a:t>
            </a:r>
          </a:p>
          <a:p>
            <a:r>
              <a:rPr lang="en-US" sz="2800" b="1" dirty="0"/>
              <a:t>Deployment: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Upload or paste large text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Get summarized version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Ask questions about the content with accurate answers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D8C4B1-B57E-02A9-C49B-47EB9BFF6FE9}"/>
              </a:ext>
            </a:extLst>
          </p:cNvPr>
          <p:cNvSpPr txBox="1"/>
          <p:nvPr/>
        </p:nvSpPr>
        <p:spPr>
          <a:xfrm>
            <a:off x="2447925" y="339209"/>
            <a:ext cx="7296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3. Text Summarizer &amp; Question Answering</a:t>
            </a:r>
          </a:p>
        </p:txBody>
      </p:sp>
    </p:spTree>
    <p:extLst>
      <p:ext uri="{BB962C8B-B14F-4D97-AF65-F5344CB8AC3E}">
        <p14:creationId xmlns:p14="http://schemas.microsoft.com/office/powerpoint/2010/main" val="1864794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7D2E9-20D6-DE6C-9BB6-01E1F8B41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's profile with glowing lines and dots&#10;&#10;AI-generated content may be incorrect.">
            <a:extLst>
              <a:ext uri="{FF2B5EF4-FFF2-40B4-BE49-F238E27FC236}">
                <a16:creationId xmlns:a16="http://schemas.microsoft.com/office/drawing/2014/main" id="{12B7D7AA-5009-DF83-CD22-0CC1C0E7EB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51A9846D-5D9F-2945-788A-709B474BD168}"/>
              </a:ext>
            </a:extLst>
          </p:cNvPr>
          <p:cNvPicPr preferRelativeResize="0"/>
          <p:nvPr/>
        </p:nvPicPr>
        <p:blipFill>
          <a:blip r:embed="rId4"/>
          <a:srcRect r="11111"/>
          <a:stretch>
            <a:fillRect/>
          </a:stretch>
        </p:blipFill>
        <p:spPr>
          <a:xfrm>
            <a:off x="7558166" y="-1571819"/>
            <a:ext cx="4900530" cy="4442122"/>
          </a:xfrm>
          <a:prstGeom prst="rect">
            <a:avLst/>
          </a:prstGeom>
          <a:noFill/>
        </p:spPr>
      </p:pic>
      <p:sp>
        <p:nvSpPr>
          <p:cNvPr id="5" name="Title 23">
            <a:extLst>
              <a:ext uri="{FF2B5EF4-FFF2-40B4-BE49-F238E27FC236}">
                <a16:creationId xmlns:a16="http://schemas.microsoft.com/office/drawing/2014/main" id="{E128BFBE-442F-A1AF-6494-8F9FD9AA063F}"/>
              </a:ext>
            </a:extLst>
          </p:cNvPr>
          <p:cNvSpPr txBox="1">
            <a:spLocks/>
          </p:cNvSpPr>
          <p:nvPr/>
        </p:nvSpPr>
        <p:spPr bwMode="blackWhite">
          <a:xfrm>
            <a:off x="938212" y="5495924"/>
            <a:ext cx="10315575" cy="89691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274320" tIns="182880" rIns="274320" bIns="182880" rtlCol="0" anchor="ctr" anchorCtr="1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/>
              <a:t>5-Sprint 4 – Advanced Topics</a:t>
            </a:r>
            <a:endParaRPr lang="en-US" sz="3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246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A72DE-04E5-439F-BE4B-C847F2247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1BE99B-A0B4-0BE6-AEAD-EF9DC40E6BB8}"/>
              </a:ext>
            </a:extLst>
          </p:cNvPr>
          <p:cNvSpPr txBox="1"/>
          <p:nvPr/>
        </p:nvSpPr>
        <p:spPr>
          <a:xfrm>
            <a:off x="302302" y="926210"/>
            <a:ext cx="1158739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Projects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n8n</a:t>
            </a:r>
            <a:r>
              <a:rPr lang="en-US" sz="2800" dirty="0">
                <a:solidFill>
                  <a:schemeClr val="bg1"/>
                </a:solidFill>
              </a:rPr>
              <a:t> Workflow 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 Optional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Make</a:t>
            </a:r>
            <a:r>
              <a:rPr lang="en-US" sz="2800" dirty="0">
                <a:solidFill>
                  <a:schemeClr val="bg1"/>
                </a:solidFill>
              </a:rPr>
              <a:t> Workflow </a:t>
            </a:r>
            <a:r>
              <a:rPr lang="en-US" sz="2800" dirty="0">
                <a:solidFill>
                  <a:schemeClr val="bg1"/>
                </a:solidFill>
                <a:sym typeface="Wingdings" panose="05000000000000000000" pitchFamily="2" charset="2"/>
              </a:rPr>
              <a:t>Optional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 Text-To-Image Project </a:t>
            </a:r>
          </a:p>
          <a:p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589FA2-27AF-449D-8D4E-AB626D88A16A}"/>
              </a:ext>
            </a:extLst>
          </p:cNvPr>
          <p:cNvSpPr txBox="1"/>
          <p:nvPr/>
        </p:nvSpPr>
        <p:spPr>
          <a:xfrm>
            <a:off x="2626519" y="291584"/>
            <a:ext cx="62698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🔬 Sprint 4: Generative AI &amp; Agents</a:t>
            </a:r>
          </a:p>
        </p:txBody>
      </p:sp>
      <p:pic>
        <p:nvPicPr>
          <p:cNvPr id="6" name="Picture 5" descr="A purple and white logo&#10;&#10;AI-generated content may be incorrect.">
            <a:extLst>
              <a:ext uri="{FF2B5EF4-FFF2-40B4-BE49-F238E27FC236}">
                <a16:creationId xmlns:a16="http://schemas.microsoft.com/office/drawing/2014/main" id="{00295DC5-ED5A-52E2-0121-0D57E58744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2979585"/>
            <a:ext cx="8987328" cy="34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272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4525-E7FB-1D19-005A-920E549F3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04D044-D6E4-5C86-3F7B-0D11AE79AB8C}"/>
              </a:ext>
            </a:extLst>
          </p:cNvPr>
          <p:cNvSpPr txBox="1"/>
          <p:nvPr/>
        </p:nvSpPr>
        <p:spPr>
          <a:xfrm>
            <a:off x="302302" y="926210"/>
            <a:ext cx="115873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Objective:</a:t>
            </a:r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Generate images from text prompts using Stable Diffusion or DALL·E models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Tools Used: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Hugging Face Diffusers</a:t>
            </a:r>
            <a:r>
              <a:rPr lang="en-US" sz="2800" dirty="0">
                <a:solidFill>
                  <a:schemeClr val="bg1"/>
                </a:solidFill>
              </a:rPr>
              <a:t>, OpenAI’s </a:t>
            </a:r>
            <a:r>
              <a:rPr lang="en-US" sz="2800" b="1" dirty="0">
                <a:solidFill>
                  <a:schemeClr val="bg1"/>
                </a:solidFill>
              </a:rPr>
              <a:t>DALL·E</a:t>
            </a:r>
            <a:r>
              <a:rPr lang="en-US" sz="2800" dirty="0">
                <a:solidFill>
                  <a:schemeClr val="bg1"/>
                </a:solidFill>
              </a:rPr>
              <a:t>, or </a:t>
            </a:r>
            <a:r>
              <a:rPr lang="en-US" sz="2800" b="1" dirty="0">
                <a:solidFill>
                  <a:schemeClr val="bg1"/>
                </a:solidFill>
              </a:rPr>
              <a:t>Replicate API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Custom UI with </a:t>
            </a:r>
            <a:r>
              <a:rPr lang="en-US" sz="2800" b="1" dirty="0" err="1">
                <a:solidFill>
                  <a:schemeClr val="bg1"/>
                </a:solidFill>
              </a:rPr>
              <a:t>Streamlit</a:t>
            </a:r>
            <a:r>
              <a:rPr lang="en-US" sz="2800" dirty="0">
                <a:solidFill>
                  <a:schemeClr val="bg1"/>
                </a:solidFill>
              </a:rPr>
              <a:t> for input prompt + image output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Optional: Use </a:t>
            </a:r>
            <a:r>
              <a:rPr lang="en-US" sz="2800" dirty="0" err="1">
                <a:solidFill>
                  <a:schemeClr val="bg1"/>
                </a:solidFill>
              </a:rPr>
              <a:t>Gradio</a:t>
            </a:r>
            <a:r>
              <a:rPr lang="en-US" sz="2800" dirty="0">
                <a:solidFill>
                  <a:schemeClr val="bg1"/>
                </a:solidFill>
              </a:rPr>
              <a:t> if preferred</a:t>
            </a:r>
          </a:p>
          <a:p>
            <a:endParaRPr lang="en-US" sz="2800" b="1" dirty="0">
              <a:solidFill>
                <a:schemeClr val="bg1"/>
              </a:solidFill>
            </a:endParaRPr>
          </a:p>
          <a:p>
            <a:r>
              <a:rPr lang="en-US" sz="2800" b="1" dirty="0">
                <a:solidFill>
                  <a:schemeClr val="bg1"/>
                </a:solidFill>
              </a:rPr>
              <a:t>Deployment: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Web app to input a prompt like "A futuristic city in the clouds" → Get AI-generated image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Ability to download or share image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FF3C26-17DE-AFD1-A0A6-221552091EAD}"/>
              </a:ext>
            </a:extLst>
          </p:cNvPr>
          <p:cNvSpPr txBox="1"/>
          <p:nvPr/>
        </p:nvSpPr>
        <p:spPr>
          <a:xfrm>
            <a:off x="1922859" y="402990"/>
            <a:ext cx="83462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3. Text-to-Image Project – AI Image Generator</a:t>
            </a:r>
          </a:p>
        </p:txBody>
      </p:sp>
    </p:spTree>
    <p:extLst>
      <p:ext uri="{BB962C8B-B14F-4D97-AF65-F5344CB8AC3E}">
        <p14:creationId xmlns:p14="http://schemas.microsoft.com/office/powerpoint/2010/main" val="3167093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40290-0FD0-2C67-CCB9-F59ADB4E5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holding a device">
            <a:extLst>
              <a:ext uri="{FF2B5EF4-FFF2-40B4-BE49-F238E27FC236}">
                <a16:creationId xmlns:a16="http://schemas.microsoft.com/office/drawing/2014/main" id="{37DAB6F1-5CE6-8E3C-5B2C-532A5BE9E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00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7" name="Google Shape;90;p1">
            <a:extLst>
              <a:ext uri="{FF2B5EF4-FFF2-40B4-BE49-F238E27FC236}">
                <a16:creationId xmlns:a16="http://schemas.microsoft.com/office/drawing/2014/main" id="{E32DE08B-9BCF-773E-5BE8-E5EECB8719B3}"/>
              </a:ext>
            </a:extLst>
          </p:cNvPr>
          <p:cNvPicPr preferRelativeResize="0"/>
          <p:nvPr/>
        </p:nvPicPr>
        <p:blipFill>
          <a:blip r:embed="rId4"/>
          <a:srcRect r="11111"/>
          <a:stretch>
            <a:fillRect/>
          </a:stretch>
        </p:blipFill>
        <p:spPr>
          <a:xfrm>
            <a:off x="7291470" y="-1492992"/>
            <a:ext cx="4900530" cy="4442122"/>
          </a:xfrm>
          <a:prstGeom prst="rect">
            <a:avLst/>
          </a:prstGeom>
          <a:noFill/>
        </p:spPr>
      </p:pic>
      <p:sp>
        <p:nvSpPr>
          <p:cNvPr id="8" name="Title 23">
            <a:extLst>
              <a:ext uri="{FF2B5EF4-FFF2-40B4-BE49-F238E27FC236}">
                <a16:creationId xmlns:a16="http://schemas.microsoft.com/office/drawing/2014/main" id="{DDF0107F-557B-1698-92FD-8FA5D567D50F}"/>
              </a:ext>
            </a:extLst>
          </p:cNvPr>
          <p:cNvSpPr txBox="1">
            <a:spLocks/>
          </p:cNvSpPr>
          <p:nvPr/>
        </p:nvSpPr>
        <p:spPr bwMode="blackWhite">
          <a:xfrm>
            <a:off x="1469412" y="4895850"/>
            <a:ext cx="9846287" cy="103420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274320" tIns="182880" rIns="27432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b="1" dirty="0"/>
              <a:t>Project Submission Process</a:t>
            </a:r>
            <a:endParaRPr lang="en-US" sz="3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584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85413-9E48-1E17-24EE-0AE49250AAB3}"/>
              </a:ext>
            </a:extLst>
          </p:cNvPr>
          <p:cNvSpPr txBox="1"/>
          <p:nvPr/>
        </p:nvSpPr>
        <p:spPr>
          <a:xfrm>
            <a:off x="752475" y="1554292"/>
            <a:ext cx="116804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Every Week: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Submit a Google Form with: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GitHub Repo URL (Clean code + README)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LinkedIn Post URL (With @Instant tagged)</a:t>
            </a:r>
          </a:p>
          <a:p>
            <a:endParaRPr lang="en-US" sz="2800" b="1" dirty="0"/>
          </a:p>
          <a:p>
            <a:r>
              <a:rPr lang="en-US" sz="2800" b="1" dirty="0"/>
              <a:t>Why LinkedIn?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Build personal branding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Show real proof of 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Engage with the tech community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BD35A-9B02-8D21-A091-662E27E00D06}"/>
              </a:ext>
            </a:extLst>
          </p:cNvPr>
          <p:cNvSpPr txBox="1"/>
          <p:nvPr/>
        </p:nvSpPr>
        <p:spPr>
          <a:xfrm>
            <a:off x="2671763" y="615434"/>
            <a:ext cx="6219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📥 Project Submission Instructions</a:t>
            </a:r>
          </a:p>
        </p:txBody>
      </p:sp>
    </p:spTree>
    <p:extLst>
      <p:ext uri="{BB962C8B-B14F-4D97-AF65-F5344CB8AC3E}">
        <p14:creationId xmlns:p14="http://schemas.microsoft.com/office/powerpoint/2010/main" val="2390242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CA9490-F184-EBE8-168A-0B306ADB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and holding a tablet&#10;&#10;AI-generated content may be incorrect.">
            <a:extLst>
              <a:ext uri="{FF2B5EF4-FFF2-40B4-BE49-F238E27FC236}">
                <a16:creationId xmlns:a16="http://schemas.microsoft.com/office/drawing/2014/main" id="{7729A948-05E2-23D6-FF18-3C8E6E8AC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>
          <a:xfrm>
            <a:off x="20" y="9535"/>
            <a:ext cx="12191980" cy="6857990"/>
          </a:xfrm>
          <a:prstGeom prst="rect">
            <a:avLst/>
          </a:prstGeom>
        </p:spPr>
      </p:pic>
      <p:pic>
        <p:nvPicPr>
          <p:cNvPr id="4" name="Google Shape;90;p1">
            <a:extLst>
              <a:ext uri="{FF2B5EF4-FFF2-40B4-BE49-F238E27FC236}">
                <a16:creationId xmlns:a16="http://schemas.microsoft.com/office/drawing/2014/main" id="{A631DE18-6852-7173-8A3D-2BEE2E5C6807}"/>
              </a:ext>
            </a:extLst>
          </p:cNvPr>
          <p:cNvPicPr preferRelativeResize="0"/>
          <p:nvPr/>
        </p:nvPicPr>
        <p:blipFill>
          <a:blip r:embed="rId4"/>
          <a:srcRect r="11111"/>
          <a:stretch>
            <a:fillRect/>
          </a:stretch>
        </p:blipFill>
        <p:spPr>
          <a:xfrm>
            <a:off x="7291450" y="-1398399"/>
            <a:ext cx="4900530" cy="4442122"/>
          </a:xfrm>
          <a:prstGeom prst="rect">
            <a:avLst/>
          </a:prstGeom>
          <a:noFill/>
        </p:spPr>
      </p:pic>
      <p:sp>
        <p:nvSpPr>
          <p:cNvPr id="5" name="Title 23">
            <a:extLst>
              <a:ext uri="{FF2B5EF4-FFF2-40B4-BE49-F238E27FC236}">
                <a16:creationId xmlns:a16="http://schemas.microsoft.com/office/drawing/2014/main" id="{CFED5E9F-8F24-9BC5-AB20-8E850C77AC28}"/>
              </a:ext>
            </a:extLst>
          </p:cNvPr>
          <p:cNvSpPr txBox="1">
            <a:spLocks/>
          </p:cNvSpPr>
          <p:nvPr/>
        </p:nvSpPr>
        <p:spPr bwMode="blackWhite">
          <a:xfrm>
            <a:off x="1708198" y="5419725"/>
            <a:ext cx="8775603" cy="75904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274320" tIns="182880" rIns="274320" bIns="182880" rtlCol="0" anchor="ctr" anchorCtr="1">
            <a:normAutofit fontScale="8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2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What You Will Achieve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211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5E7DC7-BA25-1CEC-D9E4-D0C212131DB9}"/>
              </a:ext>
            </a:extLst>
          </p:cNvPr>
          <p:cNvSpPr txBox="1"/>
          <p:nvPr/>
        </p:nvSpPr>
        <p:spPr>
          <a:xfrm>
            <a:off x="927672" y="1513944"/>
            <a:ext cx="1119390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Hands-on portfolio with 7+ deployed projects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Knowledge of EDA, CNN, NLP, RNN, GANs, Agents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Streamlit</a:t>
            </a:r>
            <a:r>
              <a:rPr lang="en-US" sz="3200" dirty="0"/>
              <a:t> and Flask deployment mastery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Visible professional footprint on LinkedIn + GitHub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Ready to apply for internships and jobs confidently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10014-DA22-7D65-3821-CFFA12D70225}"/>
              </a:ext>
            </a:extLst>
          </p:cNvPr>
          <p:cNvSpPr txBox="1"/>
          <p:nvPr/>
        </p:nvSpPr>
        <p:spPr>
          <a:xfrm>
            <a:off x="3314700" y="586859"/>
            <a:ext cx="5562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🎓 By the End of This Training</a:t>
            </a:r>
          </a:p>
        </p:txBody>
      </p:sp>
    </p:spTree>
    <p:extLst>
      <p:ext uri="{BB962C8B-B14F-4D97-AF65-F5344CB8AC3E}">
        <p14:creationId xmlns:p14="http://schemas.microsoft.com/office/powerpoint/2010/main" val="387383753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 engineering</Template>
  <TotalTime>288</TotalTime>
  <Words>979</Words>
  <Application>Microsoft Office PowerPoint</Application>
  <PresentationFormat>Widescreen</PresentationFormat>
  <Paragraphs>213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Gill Sans MT</vt:lpstr>
      <vt:lpstr>Wingdings</vt:lpstr>
      <vt:lpstr>Parcel</vt:lpstr>
      <vt:lpstr>AI &amp; Data Science Training Program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Elbadry</dc:creator>
  <cp:lastModifiedBy>Youssef Elbadry</cp:lastModifiedBy>
  <cp:revision>4</cp:revision>
  <dcterms:created xsi:type="dcterms:W3CDTF">2025-07-19T22:37:26Z</dcterms:created>
  <dcterms:modified xsi:type="dcterms:W3CDTF">2025-07-22T07:38:05Z</dcterms:modified>
</cp:coreProperties>
</file>